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I'm [name]. HurricaneShield is a property-insurance platform that takes a customer from quote all the way to claim settlement, with AI assisting underwriting, claims and customer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In property insurance, one customer journey touches quoting, policy, payments and claims, and in many setups these are disconnected. That causes four problems: quotes are slow and inconsistent, customers can't see why they pay what they pay, claims are verified by hand, and access to customer data is too broad.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HurricaneShield covers the whole lifecycle: secure registration, a risk-scored quote, underwriting, payment that activates the policy, a coverage-checked claim, and settlement with a receipt. Four roles each get exactly the view they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Angular talks to one Ocelot gateway. Behind it are five ASP.NET Core services: Auth, Customer, Policy, Claims and Payment. Each owns its own SQL Server database, they only talk through APIs, and every service enforces its own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seconds. Quick look at the stack: Angular on the front; Ocelot and five .NET 8 services; SQL Server with EF Core, one database per service; Gemini for the AI agents with local fallbacks; and JWT, MFA and fine-grained permissions, tested from unit tests to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seconds. The headline is AI inside the workflow. A compliance agent checks flagged applications against building codes and cites its sources. A triage agent scores every claim for fraud and complexity and fast-tracks simple ones, but a human adjuster always confirms. ShieldBot answers customers from the live plan catalogue. And if Gemini is down, local rule engines take over, so nothing blocks. Underneath, a deterministic engine scores risk, itemises the premium, auto-decides underwriting and snapshots the property.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Here's what changes. Quoting goes from manual to instant and risk-scored; customers see why they pay what they pay; underwriting decides automatically with an AI compliance check on edge cases; claims get AI triage and automatic coverage checks; and ShieldBot answers customers instantly. Next steps are on the roadmap, not built yet: containerised cloud deployment, CI/CD and cloud document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seconds. Thank The Hartford, Mr. Ranjan Bhatnagar Sir, Mr. Abhishek Gaikwad Sir and GUVI,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2926080" cy="685800"/>
          </a:xfrm>
          <a:prstGeom prst="rect">
            <a:avLst/>
          </a:prstGeom>
          <a:noFill/>
          <a:ln w="12700">
            <a:solidFill>
              <a:srgbClr val="B9AEB2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The Hartford logo 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PLATFORM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15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HurricaneShield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685800" y="3657600"/>
            <a:ext cx="1280160" cy="64008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65960" y="3657600"/>
            <a:ext cx="822960" cy="64008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931920"/>
            <a:ext cx="6400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quote to claim settlement, one secure, AI-assisted platform for property insurance.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623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Project  ·  The Hartford India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0"/>
            <a:ext cx="4190695" cy="626364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6263640"/>
            <a:ext cx="4190695" cy="59436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143000"/>
            <a:ext cx="3108960" cy="31089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001000" y="4754880"/>
            <a:ext cx="4190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 ·  Intelligent  ·  Resilient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62636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©2026 The Hartford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insurance runs on disconnected, manual and opaque processes.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- HurricaneShield  |  The Hartford India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The Hartford. Classification: Company Confidential. No part of this document may be reproduced, published, or used without the permission of The Hartford.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4206240" cy="4480560"/>
          </a:xfrm>
          <a:prstGeom prst="roundRect">
            <a:avLst>
              <a:gd name="adj" fmla="val 1739"/>
            </a:avLst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1460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journey, scattered across disconnected systems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60120" y="4526280"/>
            <a:ext cx="1463040" cy="5486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23160" y="4526280"/>
            <a:ext cx="914400" cy="54864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Quote, policy, payment and claims rarely talk to each other.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20640" y="1691640"/>
            <a:ext cx="6492240" cy="1005840"/>
          </a:xfrm>
          <a:prstGeom prst="roundRect">
            <a:avLst>
              <a:gd name="adj" fmla="val 4545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1691640"/>
            <a:ext cx="82296" cy="100584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874520"/>
            <a:ext cx="640080" cy="64008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8579" y="2028139"/>
            <a:ext cx="332842" cy="33284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263640" y="1810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inconsistent quoting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176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depends on manual judgement, so two similar homes can get different premiums.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120640" y="2834640"/>
            <a:ext cx="6492240" cy="1005840"/>
          </a:xfrm>
          <a:prstGeom prst="roundRect">
            <a:avLst>
              <a:gd name="adj" fmla="val 4545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120640" y="2834640"/>
            <a:ext cx="82296" cy="100584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94960" y="3017520"/>
            <a:ext cx="640080" cy="64008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8579" y="3171139"/>
            <a:ext cx="332842" cy="33284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263640" y="2953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premiums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6263640" y="3319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one number with no explanation of how risk shaped it.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120640" y="3977640"/>
            <a:ext cx="6492240" cy="1005840"/>
          </a:xfrm>
          <a:prstGeom prst="roundRect">
            <a:avLst>
              <a:gd name="adj" fmla="val 4545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120640" y="3977640"/>
            <a:ext cx="82296" cy="100584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0" y="4160520"/>
            <a:ext cx="640080" cy="64008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579" y="4314139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checked by hand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6263640" y="4462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policy status and documents are verified manually across systems.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120640" y="5120640"/>
            <a:ext cx="6492240" cy="1005840"/>
          </a:xfrm>
          <a:prstGeom prst="roundRect">
            <a:avLst>
              <a:gd name="adj" fmla="val 4545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120640" y="5120640"/>
            <a:ext cx="82296" cy="100584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394960" y="5303520"/>
            <a:ext cx="640080" cy="64008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579" y="5457139"/>
            <a:ext cx="332842" cy="33284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263640" y="5239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coarse</a:t>
            </a:r>
            <a:endParaRPr lang="en-US" sz="1800" dirty="0"/>
          </a:p>
        </p:txBody>
      </p:sp>
      <p:sp>
        <p:nvSpPr>
          <p:cNvPr id="38" name="Text 32"/>
          <p:cNvSpPr txBox="1"/>
          <p:nvPr/>
        </p:nvSpPr>
        <p:spPr>
          <a:xfrm>
            <a:off x="6263640" y="5605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often see more customer data than their role needs.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HurricaneShield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carries a customer from quote to settlement, end to end.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- HurricaneShield  |  The Hartford India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The Hartford. Classification: Company Confidential. No part of this document may be reproduced, published, or used without the permission of The Hartford.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6459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 →  Quote  →  Underwrite  →  Pay &amp; Activate  →  Claim  →  Settle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7280" y="2468880"/>
            <a:ext cx="777240" cy="777240"/>
          </a:xfrm>
          <a:prstGeom prst="ellipse">
            <a:avLst/>
          </a:prstGeom>
          <a:solidFill>
            <a:srgbClr val="FBEFF3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818" y="2655418"/>
            <a:ext cx="404165" cy="40416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1943100" y="2852928"/>
            <a:ext cx="941832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64008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sign-up with TOTP MFA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53512" y="2468880"/>
            <a:ext cx="777240" cy="77724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050" y="2655418"/>
            <a:ext cx="404165" cy="40416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799332" y="2852928"/>
            <a:ext cx="941832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19" name="Text 15"/>
          <p:cNvSpPr txBox="1"/>
          <p:nvPr/>
        </p:nvSpPr>
        <p:spPr>
          <a:xfrm>
            <a:off x="2496312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2542032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Risk-scored, itemised premium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809744" y="2468880"/>
            <a:ext cx="777240" cy="777240"/>
          </a:xfrm>
          <a:prstGeom prst="ellipse">
            <a:avLst/>
          </a:prstGeom>
          <a:solidFill>
            <a:srgbClr val="FBEFF3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282" y="2655418"/>
            <a:ext cx="404165" cy="404165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655564" y="2852928"/>
            <a:ext cx="941832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4352544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4398264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Auto-approve, review or reject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665976" y="2468880"/>
            <a:ext cx="777240" cy="77724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514" y="2655418"/>
            <a:ext cx="404165" cy="40416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511796" y="2852928"/>
            <a:ext cx="941832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29" name="Text 23"/>
          <p:cNvSpPr txBox="1"/>
          <p:nvPr/>
        </p:nvSpPr>
        <p:spPr>
          <a:xfrm>
            <a:off x="6208776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Activate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254496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payment activates policy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522208" y="2468880"/>
            <a:ext cx="777240" cy="777240"/>
          </a:xfrm>
          <a:prstGeom prst="ellipse">
            <a:avLst/>
          </a:prstGeom>
          <a:solidFill>
            <a:srgbClr val="FBEFF3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746" y="2655418"/>
            <a:ext cx="404165" cy="40416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9368028" y="2852928"/>
            <a:ext cx="941832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34" name="Text 27"/>
          <p:cNvSpPr txBox="1"/>
          <p:nvPr/>
        </p:nvSpPr>
        <p:spPr>
          <a:xfrm>
            <a:off x="8065008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8110728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Coverage-checked, with documents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10378440" y="2468880"/>
            <a:ext cx="777240" cy="77724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4978" y="2655418"/>
            <a:ext cx="404165" cy="40416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921240" y="33375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9966960" y="3703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Payout, receipt and closure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40080" y="4526280"/>
            <a:ext cx="2633472" cy="1600200"/>
          </a:xfrm>
          <a:prstGeom prst="roundRect">
            <a:avLst>
              <a:gd name="adj" fmla="val 2857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0080" y="4526280"/>
            <a:ext cx="82296" cy="16002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914400" y="4709160"/>
            <a:ext cx="548640" cy="54864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4" y="4840834"/>
            <a:ext cx="285293" cy="285293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600200" y="4754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600" dirty="0"/>
          </a:p>
        </p:txBody>
      </p:sp>
      <p:sp>
        <p:nvSpPr>
          <p:cNvPr id="45" name="Text 36"/>
          <p:cNvSpPr txBox="1"/>
          <p:nvPr/>
        </p:nvSpPr>
        <p:spPr>
          <a:xfrm>
            <a:off x="914400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Quotes, pays, claims, tracks</a:t>
            </a:r>
            <a:endParaRPr lang="en-US" sz="1300" dirty="0"/>
          </a:p>
        </p:txBody>
      </p:sp>
      <p:sp>
        <p:nvSpPr>
          <p:cNvPr id="46" name="Shape 37"/>
          <p:cNvSpPr/>
          <p:nvPr/>
        </p:nvSpPr>
        <p:spPr>
          <a:xfrm>
            <a:off x="3419856" y="4526280"/>
            <a:ext cx="2633472" cy="1600200"/>
          </a:xfrm>
          <a:prstGeom prst="roundRect">
            <a:avLst>
              <a:gd name="adj" fmla="val 2857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3419856" y="4526280"/>
            <a:ext cx="82296" cy="160020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3694176" y="4709160"/>
            <a:ext cx="548640" cy="54864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5850" y="4840834"/>
            <a:ext cx="285293" cy="285293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4379976" y="4754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51" name="Text 41"/>
          <p:cNvSpPr txBox="1"/>
          <p:nvPr/>
        </p:nvSpPr>
        <p:spPr>
          <a:xfrm>
            <a:off x="3694176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underwriting cases</a:t>
            </a:r>
            <a:endParaRPr lang="en-US" sz="1300" dirty="0"/>
          </a:p>
        </p:txBody>
      </p:sp>
      <p:sp>
        <p:nvSpPr>
          <p:cNvPr id="52" name="Shape 42"/>
          <p:cNvSpPr/>
          <p:nvPr/>
        </p:nvSpPr>
        <p:spPr>
          <a:xfrm>
            <a:off x="6199632" y="4526280"/>
            <a:ext cx="2633472" cy="1600200"/>
          </a:xfrm>
          <a:prstGeom prst="roundRect">
            <a:avLst>
              <a:gd name="adj" fmla="val 2857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53" name="Shape 43"/>
          <p:cNvSpPr/>
          <p:nvPr/>
        </p:nvSpPr>
        <p:spPr>
          <a:xfrm>
            <a:off x="6199632" y="4526280"/>
            <a:ext cx="82296" cy="16002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54" name="Shape 44"/>
          <p:cNvSpPr/>
          <p:nvPr/>
        </p:nvSpPr>
        <p:spPr>
          <a:xfrm>
            <a:off x="6473952" y="4709160"/>
            <a:ext cx="548640" cy="54864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5626" y="4840834"/>
            <a:ext cx="285293" cy="285293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159752" y="4754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Manager</a:t>
            </a:r>
            <a:endParaRPr lang="en-US" sz="1600" dirty="0"/>
          </a:p>
        </p:txBody>
      </p:sp>
      <p:sp>
        <p:nvSpPr>
          <p:cNvPr id="57" name="Text 46"/>
          <p:cNvSpPr txBox="1"/>
          <p:nvPr/>
        </p:nvSpPr>
        <p:spPr>
          <a:xfrm>
            <a:off x="6473952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Verifies, approves, settles</a:t>
            </a:r>
            <a:endParaRPr lang="en-US" sz="1300" dirty="0"/>
          </a:p>
        </p:txBody>
      </p:sp>
      <p:sp>
        <p:nvSpPr>
          <p:cNvPr id="58" name="Shape 47"/>
          <p:cNvSpPr/>
          <p:nvPr/>
        </p:nvSpPr>
        <p:spPr>
          <a:xfrm>
            <a:off x="8979408" y="4526280"/>
            <a:ext cx="2633472" cy="1600200"/>
          </a:xfrm>
          <a:prstGeom prst="roundRect">
            <a:avLst>
              <a:gd name="adj" fmla="val 2857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59" name="Shape 48"/>
          <p:cNvSpPr/>
          <p:nvPr/>
        </p:nvSpPr>
        <p:spPr>
          <a:xfrm>
            <a:off x="8979408" y="4526280"/>
            <a:ext cx="82296" cy="160020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9253728" y="4709160"/>
            <a:ext cx="548640" cy="54864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85402" y="4840834"/>
            <a:ext cx="285293" cy="285293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9939528" y="47548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600" dirty="0"/>
          </a:p>
        </p:txBody>
      </p:sp>
      <p:sp>
        <p:nvSpPr>
          <p:cNvPr id="63" name="Text 51"/>
          <p:cNvSpPr txBox="1"/>
          <p:nvPr/>
        </p:nvSpPr>
        <p:spPr>
          <a:xfrm>
            <a:off x="9253728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roles, payments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independent microservices behind one gateway, each owning its own data.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- HurricaneShield  |  The Hartford India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The Hartford. Classification: Company Confidential. No part of this document may be reproduced, published, or used without the permission of The Hartford.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23160" y="164592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6459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Frontend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60520" y="2212848"/>
            <a:ext cx="0" cy="274320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423160" y="2505456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5E1230"/>
          </a:solidFill>
          <a:ln w="9525">
            <a:solidFill>
              <a:srgbClr val="5E12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23160" y="250545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 API Gateway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60520" y="3072384"/>
            <a:ext cx="0" cy="219456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25880" y="3291840"/>
            <a:ext cx="6108192" cy="0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25880" y="3291840"/>
            <a:ext cx="0" cy="201168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0080" y="3511296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511296"/>
            <a:ext cx="1371600" cy="73152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" y="3675888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5121" y="3796589"/>
            <a:ext cx="261518" cy="26151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0080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325880" y="4754880"/>
            <a:ext cx="0" cy="228600"/>
          </a:xfrm>
          <a:prstGeom prst="line">
            <a:avLst/>
          </a:prstGeom>
          <a:noFill/>
          <a:ln w="15875">
            <a:solidFill>
              <a:srgbClr val="8C1D40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777240" y="5001768"/>
            <a:ext cx="1097280" cy="685800"/>
          </a:xfrm>
          <a:prstGeom prst="can">
            <a:avLst/>
          </a:prstGeom>
          <a:solidFill>
            <a:srgbClr val="F7E8EE"/>
          </a:solidFill>
          <a:ln w="12700">
            <a:solidFill>
              <a:srgbClr val="8C1D40"/>
            </a:solidFill>
          </a:ln>
        </p:spPr>
        <p:txBody>
          <a:bodyPr wrap="square" lIns="1016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DB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852928" y="3291840"/>
            <a:ext cx="0" cy="201168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167128" y="3511296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167128" y="3511296"/>
            <a:ext cx="1371600" cy="73152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01468" y="3675888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169" y="3796589"/>
            <a:ext cx="261518" cy="26151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2167128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2852928" y="4754880"/>
            <a:ext cx="0" cy="228600"/>
          </a:xfrm>
          <a:prstGeom prst="line">
            <a:avLst/>
          </a:prstGeom>
          <a:noFill/>
          <a:ln w="15875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31" name="Text 27"/>
          <p:cNvSpPr txBox="1"/>
          <p:nvPr/>
        </p:nvSpPr>
        <p:spPr>
          <a:xfrm>
            <a:off x="2304288" y="5001768"/>
            <a:ext cx="1097280" cy="685800"/>
          </a:xfrm>
          <a:prstGeom prst="can">
            <a:avLst/>
          </a:prstGeom>
          <a:solidFill>
            <a:srgbClr val="F7E8EE"/>
          </a:solidFill>
          <a:ln w="12700">
            <a:solidFill>
              <a:srgbClr val="D6457A"/>
            </a:solidFill>
          </a:ln>
        </p:spPr>
        <p:txBody>
          <a:bodyPr wrap="square" lIns="1016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DB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379976" y="3291840"/>
            <a:ext cx="0" cy="201168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  <a:tailEnd type="triangle"/>
          </a:ln>
        </p:spPr>
      </p:sp>
      <p:sp>
        <p:nvSpPr>
          <p:cNvPr id="33" name="Shape 29"/>
          <p:cNvSpPr/>
          <p:nvPr/>
        </p:nvSpPr>
        <p:spPr>
          <a:xfrm>
            <a:off x="3694176" y="3511296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694176" y="3511296"/>
            <a:ext cx="1371600" cy="73152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128516" y="3675888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9217" y="3796589"/>
            <a:ext cx="261518" cy="26151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3694176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38" name="Shape 33"/>
          <p:cNvSpPr/>
          <p:nvPr/>
        </p:nvSpPr>
        <p:spPr>
          <a:xfrm>
            <a:off x="4379976" y="4754880"/>
            <a:ext cx="0" cy="228600"/>
          </a:xfrm>
          <a:prstGeom prst="line">
            <a:avLst/>
          </a:prstGeom>
          <a:noFill/>
          <a:ln w="15875">
            <a:solidFill>
              <a:srgbClr val="8C1D40"/>
            </a:solidFill>
            <a:prstDash val="solid"/>
            <a:tailEnd type="triangle"/>
          </a:ln>
        </p:spPr>
      </p:sp>
      <p:sp>
        <p:nvSpPr>
          <p:cNvPr id="39" name="Text 34"/>
          <p:cNvSpPr txBox="1"/>
          <p:nvPr/>
        </p:nvSpPr>
        <p:spPr>
          <a:xfrm>
            <a:off x="3831336" y="5001768"/>
            <a:ext cx="1097280" cy="685800"/>
          </a:xfrm>
          <a:prstGeom prst="can">
            <a:avLst/>
          </a:prstGeom>
          <a:solidFill>
            <a:srgbClr val="F7E8EE"/>
          </a:solidFill>
          <a:ln w="12700">
            <a:solidFill>
              <a:srgbClr val="8C1D40"/>
            </a:solidFill>
          </a:ln>
        </p:spPr>
        <p:txBody>
          <a:bodyPr wrap="square" lIns="1016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DB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5907024" y="3291840"/>
            <a:ext cx="0" cy="201168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  <a:tailEnd type="triangle"/>
          </a:ln>
        </p:spPr>
      </p:sp>
      <p:sp>
        <p:nvSpPr>
          <p:cNvPr id="41" name="Shape 36"/>
          <p:cNvSpPr/>
          <p:nvPr/>
        </p:nvSpPr>
        <p:spPr>
          <a:xfrm>
            <a:off x="5221224" y="3511296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5221224" y="3511296"/>
            <a:ext cx="1371600" cy="73152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5655564" y="3675888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265" y="3796589"/>
            <a:ext cx="261518" cy="261518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5221224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5907024" y="4754880"/>
            <a:ext cx="0" cy="228600"/>
          </a:xfrm>
          <a:prstGeom prst="line">
            <a:avLst/>
          </a:prstGeom>
          <a:noFill/>
          <a:ln w="15875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47" name="Text 41"/>
          <p:cNvSpPr txBox="1"/>
          <p:nvPr/>
        </p:nvSpPr>
        <p:spPr>
          <a:xfrm>
            <a:off x="5358384" y="5001768"/>
            <a:ext cx="1097280" cy="685800"/>
          </a:xfrm>
          <a:prstGeom prst="can">
            <a:avLst/>
          </a:prstGeom>
          <a:solidFill>
            <a:srgbClr val="F7E8EE"/>
          </a:solidFill>
          <a:ln w="12700">
            <a:solidFill>
              <a:srgbClr val="D6457A"/>
            </a:solidFill>
          </a:ln>
        </p:spPr>
        <p:txBody>
          <a:bodyPr wrap="square" lIns="1016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DB</a:t>
            </a:r>
            <a:endParaRPr lang="en-US" sz="1100" dirty="0"/>
          </a:p>
        </p:txBody>
      </p:sp>
      <p:sp>
        <p:nvSpPr>
          <p:cNvPr id="48" name="Shape 42"/>
          <p:cNvSpPr/>
          <p:nvPr/>
        </p:nvSpPr>
        <p:spPr>
          <a:xfrm>
            <a:off x="7434072" y="3291840"/>
            <a:ext cx="0" cy="201168"/>
          </a:xfrm>
          <a:prstGeom prst="line">
            <a:avLst/>
          </a:prstGeom>
          <a:noFill/>
          <a:ln w="19050">
            <a:solidFill>
              <a:srgbClr val="6B6467"/>
            </a:solidFill>
            <a:prstDash val="solid"/>
            <a:tailEnd type="triangle"/>
          </a:ln>
        </p:spPr>
      </p:sp>
      <p:sp>
        <p:nvSpPr>
          <p:cNvPr id="49" name="Shape 43"/>
          <p:cNvSpPr/>
          <p:nvPr/>
        </p:nvSpPr>
        <p:spPr>
          <a:xfrm>
            <a:off x="6748272" y="3511296"/>
            <a:ext cx="1371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6748272" y="3511296"/>
            <a:ext cx="1371600" cy="73152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7182612" y="3675888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313" y="3796589"/>
            <a:ext cx="261518" cy="261518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6748272" y="4206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54" name="Shape 47"/>
          <p:cNvSpPr/>
          <p:nvPr/>
        </p:nvSpPr>
        <p:spPr>
          <a:xfrm>
            <a:off x="7434072" y="4754880"/>
            <a:ext cx="0" cy="228600"/>
          </a:xfrm>
          <a:prstGeom prst="line">
            <a:avLst/>
          </a:prstGeom>
          <a:noFill/>
          <a:ln w="15875">
            <a:solidFill>
              <a:srgbClr val="8C1D40"/>
            </a:solidFill>
            <a:prstDash val="solid"/>
            <a:tailEnd type="triangle"/>
          </a:ln>
        </p:spPr>
      </p:sp>
      <p:sp>
        <p:nvSpPr>
          <p:cNvPr id="55" name="Text 48"/>
          <p:cNvSpPr txBox="1"/>
          <p:nvPr/>
        </p:nvSpPr>
        <p:spPr>
          <a:xfrm>
            <a:off x="6885432" y="5001768"/>
            <a:ext cx="1097280" cy="685800"/>
          </a:xfrm>
          <a:prstGeom prst="can">
            <a:avLst/>
          </a:prstGeom>
          <a:solidFill>
            <a:srgbClr val="F7E8EE"/>
          </a:solidFill>
          <a:ln w="12700">
            <a:solidFill>
              <a:srgbClr val="8C1D40"/>
            </a:solidFill>
          </a:ln>
        </p:spPr>
        <p:txBody>
          <a:bodyPr wrap="square" lIns="1016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DB</a:t>
            </a:r>
            <a:endParaRPr lang="en-US" sz="1100" dirty="0"/>
          </a:p>
        </p:txBody>
      </p:sp>
      <p:sp>
        <p:nvSpPr>
          <p:cNvPr id="56" name="Text 49"/>
          <p:cNvSpPr txBox="1"/>
          <p:nvPr/>
        </p:nvSpPr>
        <p:spPr>
          <a:xfrm>
            <a:off x="640080" y="58064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 ·  Clean Architecture  ·  SQL Server + EF Core  ·  REST via typed clients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8366760" y="164592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58" name="Shape 51"/>
          <p:cNvSpPr/>
          <p:nvPr/>
        </p:nvSpPr>
        <p:spPr>
          <a:xfrm>
            <a:off x="8366760" y="1645920"/>
            <a:ext cx="82296" cy="1298448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8595360" y="1810512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061" y="1931213"/>
            <a:ext cx="261518" cy="261518"/>
          </a:xfrm>
          <a:prstGeom prst="rect">
            <a:avLst/>
          </a:prstGeom>
        </p:spPr>
      </p:pic>
      <p:sp>
        <p:nvSpPr>
          <p:cNvPr id="61" name="Text 53"/>
          <p:cNvSpPr txBox="1"/>
          <p:nvPr/>
        </p:nvSpPr>
        <p:spPr>
          <a:xfrm>
            <a:off x="9235440" y="18105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per service</a:t>
            </a:r>
            <a:endParaRPr lang="en-US" sz="1500" dirty="0"/>
          </a:p>
        </p:txBody>
      </p:sp>
      <p:sp>
        <p:nvSpPr>
          <p:cNvPr id="62" name="Text 54"/>
          <p:cNvSpPr txBox="1"/>
          <p:nvPr/>
        </p:nvSpPr>
        <p:spPr>
          <a:xfrm>
            <a:off x="8595360" y="239572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domain owns its data and evolves independently.</a:t>
            </a:r>
            <a:endParaRPr lang="en-US" sz="1200" dirty="0"/>
          </a:p>
        </p:txBody>
      </p:sp>
      <p:sp>
        <p:nvSpPr>
          <p:cNvPr id="63" name="Shape 55"/>
          <p:cNvSpPr/>
          <p:nvPr/>
        </p:nvSpPr>
        <p:spPr>
          <a:xfrm>
            <a:off x="8366760" y="310896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8366760" y="3108960"/>
            <a:ext cx="82296" cy="1298448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>
            <a:off x="8595360" y="3273552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6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6061" y="3394253"/>
            <a:ext cx="261518" cy="261518"/>
          </a:xfrm>
          <a:prstGeom prst="rect">
            <a:avLst/>
          </a:prstGeom>
        </p:spPr>
      </p:pic>
      <p:sp>
        <p:nvSpPr>
          <p:cNvPr id="67" name="Text 58"/>
          <p:cNvSpPr txBox="1"/>
          <p:nvPr/>
        </p:nvSpPr>
        <p:spPr>
          <a:xfrm>
            <a:off x="9235440" y="32735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API contracts</a:t>
            </a:r>
            <a:endParaRPr lang="en-US" sz="1500" dirty="0"/>
          </a:p>
        </p:txBody>
      </p:sp>
      <p:sp>
        <p:nvSpPr>
          <p:cNvPr id="68" name="Text 59"/>
          <p:cNvSpPr txBox="1"/>
          <p:nvPr/>
        </p:nvSpPr>
        <p:spPr>
          <a:xfrm>
            <a:off x="8595360" y="38587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collaborate only through REST APIs.</a:t>
            </a:r>
            <a:endParaRPr lang="en-US" sz="1200" dirty="0"/>
          </a:p>
        </p:txBody>
      </p:sp>
      <p:sp>
        <p:nvSpPr>
          <p:cNvPr id="69" name="Shape 60"/>
          <p:cNvSpPr/>
          <p:nvPr/>
        </p:nvSpPr>
        <p:spPr>
          <a:xfrm>
            <a:off x="8366760" y="4572000"/>
            <a:ext cx="3246120" cy="1298448"/>
          </a:xfrm>
          <a:prstGeom prst="roundRect">
            <a:avLst>
              <a:gd name="adj" fmla="val 3521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70" name="Shape 61"/>
          <p:cNvSpPr/>
          <p:nvPr/>
        </p:nvSpPr>
        <p:spPr>
          <a:xfrm>
            <a:off x="8366760" y="4572000"/>
            <a:ext cx="82296" cy="1298448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71" name="Shape 62"/>
          <p:cNvSpPr/>
          <p:nvPr/>
        </p:nvSpPr>
        <p:spPr>
          <a:xfrm>
            <a:off x="8595360" y="4736592"/>
            <a:ext cx="502920" cy="50292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7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16061" y="4857293"/>
            <a:ext cx="261518" cy="261518"/>
          </a:xfrm>
          <a:prstGeom prst="rect">
            <a:avLst/>
          </a:prstGeom>
        </p:spPr>
      </p:pic>
      <p:sp>
        <p:nvSpPr>
          <p:cNvPr id="73" name="Text 63"/>
          <p:cNvSpPr txBox="1"/>
          <p:nvPr/>
        </p:nvSpPr>
        <p:spPr>
          <a:xfrm>
            <a:off x="9235440" y="4736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every service</a:t>
            </a:r>
            <a:endParaRPr lang="en-US" sz="1500" dirty="0"/>
          </a:p>
        </p:txBody>
      </p:sp>
      <p:sp>
        <p:nvSpPr>
          <p:cNvPr id="74" name="Text 64"/>
          <p:cNvSpPr txBox="1"/>
          <p:nvPr/>
        </p:nvSpPr>
        <p:spPr>
          <a:xfrm>
            <a:off x="8595360" y="532180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permission and ownership checked on each call.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HurricaneShield is built on, layer by layer.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- HurricaneShield  |  The Hartford India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The Hartford. Classification: Company Confidential. No part of this document may be reproduced, published, or used without the permission of The Hartford.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5E1230"/>
          </a:solidFill>
          <a:ln w="9525">
            <a:solidFill>
              <a:srgbClr val="5E1230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17320" y="1737360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8994" y="1869034"/>
            <a:ext cx="285293" cy="2852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64008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283464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83464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framework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6576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65760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code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48056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48056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553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Forms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4882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input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" y="530352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530352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5376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Signals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5705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857500" y="16459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634740" y="1737360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414" y="1869034"/>
            <a:ext cx="285293" cy="285293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8575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Services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2857500" y="283464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857500" y="283464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04038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Ocelot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3040380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2857500" y="36576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2857500" y="365760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04038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/ ASP.NET Core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304038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Web APIs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2857500" y="448056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857500" y="448056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3040380" y="4553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300" dirty="0"/>
          </a:p>
        </p:txBody>
      </p:sp>
      <p:sp>
        <p:nvSpPr>
          <p:cNvPr id="44" name="Text 40"/>
          <p:cNvSpPr txBox="1"/>
          <p:nvPr/>
        </p:nvSpPr>
        <p:spPr>
          <a:xfrm>
            <a:off x="3040380" y="4882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services</a:t>
            </a:r>
            <a:endParaRPr lang="en-US" sz="1100" dirty="0"/>
          </a:p>
        </p:txBody>
      </p:sp>
      <p:sp>
        <p:nvSpPr>
          <p:cNvPr id="45" name="Shape 41"/>
          <p:cNvSpPr/>
          <p:nvPr/>
        </p:nvSpPr>
        <p:spPr>
          <a:xfrm>
            <a:off x="2857500" y="530352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2857500" y="530352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47" name="Text 43"/>
          <p:cNvSpPr txBox="1"/>
          <p:nvPr/>
        </p:nvSpPr>
        <p:spPr>
          <a:xfrm>
            <a:off x="3040380" y="5376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MediatR · FluentValidation</a:t>
            </a:r>
            <a:endParaRPr lang="en-US" sz="1300" dirty="0"/>
          </a:p>
        </p:txBody>
      </p:sp>
      <p:sp>
        <p:nvSpPr>
          <p:cNvPr id="48" name="Text 44"/>
          <p:cNvSpPr txBox="1"/>
          <p:nvPr/>
        </p:nvSpPr>
        <p:spPr>
          <a:xfrm>
            <a:off x="3040380" y="5705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&amp; rules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5074920" y="16459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50" name="Shape 46"/>
          <p:cNvSpPr/>
          <p:nvPr/>
        </p:nvSpPr>
        <p:spPr>
          <a:xfrm>
            <a:off x="5852160" y="1737360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834" y="1869034"/>
            <a:ext cx="285293" cy="285293"/>
          </a:xfrm>
          <a:prstGeom prst="rect">
            <a:avLst/>
          </a:prstGeom>
        </p:spPr>
      </p:pic>
      <p:sp>
        <p:nvSpPr>
          <p:cNvPr id="52" name="Text 47"/>
          <p:cNvSpPr txBox="1"/>
          <p:nvPr/>
        </p:nvSpPr>
        <p:spPr>
          <a:xfrm>
            <a:off x="507492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53" name="Shape 48"/>
          <p:cNvSpPr/>
          <p:nvPr/>
        </p:nvSpPr>
        <p:spPr>
          <a:xfrm>
            <a:off x="5074920" y="283464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074920" y="283464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525780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56" name="Text 51"/>
          <p:cNvSpPr txBox="1"/>
          <p:nvPr/>
        </p:nvSpPr>
        <p:spPr>
          <a:xfrm>
            <a:off x="5257800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per service</a:t>
            </a:r>
            <a:endParaRPr lang="en-US" sz="1100" dirty="0"/>
          </a:p>
        </p:txBody>
      </p:sp>
      <p:sp>
        <p:nvSpPr>
          <p:cNvPr id="57" name="Shape 52"/>
          <p:cNvSpPr/>
          <p:nvPr/>
        </p:nvSpPr>
        <p:spPr>
          <a:xfrm>
            <a:off x="5074920" y="36576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5074920" y="365760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525780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300" dirty="0"/>
          </a:p>
        </p:txBody>
      </p:sp>
      <p:sp>
        <p:nvSpPr>
          <p:cNvPr id="60" name="Text 55"/>
          <p:cNvSpPr txBox="1"/>
          <p:nvPr/>
        </p:nvSpPr>
        <p:spPr>
          <a:xfrm>
            <a:off x="525780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&amp; migrations</a:t>
            </a:r>
            <a:endParaRPr lang="en-US" sz="1100" dirty="0"/>
          </a:p>
        </p:txBody>
      </p:sp>
      <p:sp>
        <p:nvSpPr>
          <p:cNvPr id="61" name="Shape 56"/>
          <p:cNvSpPr/>
          <p:nvPr/>
        </p:nvSpPr>
        <p:spPr>
          <a:xfrm>
            <a:off x="5074920" y="448056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5074920" y="448056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5257800" y="4553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RowVersion</a:t>
            </a:r>
            <a:endParaRPr lang="en-US" sz="1300" dirty="0"/>
          </a:p>
        </p:txBody>
      </p:sp>
      <p:sp>
        <p:nvSpPr>
          <p:cNvPr id="64" name="Text 59"/>
          <p:cNvSpPr txBox="1"/>
          <p:nvPr/>
        </p:nvSpPr>
        <p:spPr>
          <a:xfrm>
            <a:off x="5257800" y="4882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</a:t>
            </a:r>
            <a:endParaRPr lang="en-US" sz="1100" dirty="0"/>
          </a:p>
        </p:txBody>
      </p:sp>
      <p:sp>
        <p:nvSpPr>
          <p:cNvPr id="65" name="Shape 60"/>
          <p:cNvSpPr/>
          <p:nvPr/>
        </p:nvSpPr>
        <p:spPr>
          <a:xfrm>
            <a:off x="5074920" y="530352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5074920" y="530352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5257800" y="5376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Polly · HTTP Resilience</a:t>
            </a:r>
            <a:endParaRPr lang="en-US" sz="1300" dirty="0"/>
          </a:p>
        </p:txBody>
      </p:sp>
      <p:sp>
        <p:nvSpPr>
          <p:cNvPr id="68" name="Text 63"/>
          <p:cNvSpPr txBox="1"/>
          <p:nvPr/>
        </p:nvSpPr>
        <p:spPr>
          <a:xfrm>
            <a:off x="5257800" y="5705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&amp; breaker</a:t>
            </a:r>
            <a:endParaRPr lang="en-US" sz="1100" dirty="0"/>
          </a:p>
        </p:txBody>
      </p:sp>
      <p:sp>
        <p:nvSpPr>
          <p:cNvPr id="69" name="Shape 64"/>
          <p:cNvSpPr/>
          <p:nvPr/>
        </p:nvSpPr>
        <p:spPr>
          <a:xfrm>
            <a:off x="7292340" y="16459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70" name="Shape 65"/>
          <p:cNvSpPr/>
          <p:nvPr/>
        </p:nvSpPr>
        <p:spPr>
          <a:xfrm>
            <a:off x="8069580" y="1737360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254" y="1869034"/>
            <a:ext cx="285293" cy="285293"/>
          </a:xfrm>
          <a:prstGeom prst="rect">
            <a:avLst/>
          </a:prstGeom>
        </p:spPr>
      </p:pic>
      <p:sp>
        <p:nvSpPr>
          <p:cNvPr id="72" name="Text 66"/>
          <p:cNvSpPr txBox="1"/>
          <p:nvPr/>
        </p:nvSpPr>
        <p:spPr>
          <a:xfrm>
            <a:off x="72923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73" name="Shape 67"/>
          <p:cNvSpPr/>
          <p:nvPr/>
        </p:nvSpPr>
        <p:spPr>
          <a:xfrm>
            <a:off x="7292340" y="283464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74" name="Shape 68"/>
          <p:cNvSpPr/>
          <p:nvPr/>
        </p:nvSpPr>
        <p:spPr>
          <a:xfrm>
            <a:off x="7292340" y="283464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75" name="Text 69"/>
          <p:cNvSpPr txBox="1"/>
          <p:nvPr/>
        </p:nvSpPr>
        <p:spPr>
          <a:xfrm>
            <a:off x="747522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76" name="Text 70"/>
          <p:cNvSpPr txBox="1"/>
          <p:nvPr/>
        </p:nvSpPr>
        <p:spPr>
          <a:xfrm>
            <a:off x="7475220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agents</a:t>
            </a:r>
            <a:endParaRPr lang="en-US" sz="1100" dirty="0"/>
          </a:p>
        </p:txBody>
      </p:sp>
      <p:sp>
        <p:nvSpPr>
          <p:cNvPr id="77" name="Shape 71"/>
          <p:cNvSpPr/>
          <p:nvPr/>
        </p:nvSpPr>
        <p:spPr>
          <a:xfrm>
            <a:off x="7292340" y="36576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>
            <a:off x="7292340" y="365760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79" name="Text 73"/>
          <p:cNvSpPr txBox="1"/>
          <p:nvPr/>
        </p:nvSpPr>
        <p:spPr>
          <a:xfrm>
            <a:off x="747522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AI</a:t>
            </a:r>
            <a:endParaRPr lang="en-US" sz="1300" dirty="0"/>
          </a:p>
        </p:txBody>
      </p:sp>
      <p:sp>
        <p:nvSpPr>
          <p:cNvPr id="80" name="Text 74"/>
          <p:cNvSpPr txBox="1"/>
          <p:nvPr/>
        </p:nvSpPr>
        <p:spPr>
          <a:xfrm>
            <a:off x="747522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option</a:t>
            </a:r>
            <a:endParaRPr lang="en-US" sz="1100" dirty="0"/>
          </a:p>
        </p:txBody>
      </p:sp>
      <p:sp>
        <p:nvSpPr>
          <p:cNvPr id="81" name="Shape 75"/>
          <p:cNvSpPr/>
          <p:nvPr/>
        </p:nvSpPr>
        <p:spPr>
          <a:xfrm>
            <a:off x="7292340" y="448056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>
            <a:off x="7292340" y="448056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83" name="Text 77"/>
          <p:cNvSpPr txBox="1"/>
          <p:nvPr/>
        </p:nvSpPr>
        <p:spPr>
          <a:xfrm>
            <a:off x="7475220" y="4553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JSON-schema output</a:t>
            </a:r>
            <a:endParaRPr lang="en-US" sz="1300" dirty="0"/>
          </a:p>
        </p:txBody>
      </p:sp>
      <p:sp>
        <p:nvSpPr>
          <p:cNvPr id="84" name="Text 78"/>
          <p:cNvSpPr txBox="1"/>
          <p:nvPr/>
        </p:nvSpPr>
        <p:spPr>
          <a:xfrm>
            <a:off x="7475220" y="4882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results</a:t>
            </a:r>
            <a:endParaRPr lang="en-US" sz="1100" dirty="0"/>
          </a:p>
        </p:txBody>
      </p:sp>
      <p:sp>
        <p:nvSpPr>
          <p:cNvPr id="85" name="Shape 79"/>
          <p:cNvSpPr/>
          <p:nvPr/>
        </p:nvSpPr>
        <p:spPr>
          <a:xfrm>
            <a:off x="7292340" y="530352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>
            <a:off x="7292340" y="530352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87" name="Text 81"/>
          <p:cNvSpPr txBox="1"/>
          <p:nvPr/>
        </p:nvSpPr>
        <p:spPr>
          <a:xfrm>
            <a:off x="7475220" y="5376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engines</a:t>
            </a:r>
            <a:endParaRPr lang="en-US" sz="1300" dirty="0"/>
          </a:p>
        </p:txBody>
      </p:sp>
      <p:sp>
        <p:nvSpPr>
          <p:cNvPr id="88" name="Text 82"/>
          <p:cNvSpPr txBox="1"/>
          <p:nvPr/>
        </p:nvSpPr>
        <p:spPr>
          <a:xfrm>
            <a:off x="7475220" y="5705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available</a:t>
            </a:r>
            <a:endParaRPr lang="en-US" sz="1100" dirty="0"/>
          </a:p>
        </p:txBody>
      </p:sp>
      <p:sp>
        <p:nvSpPr>
          <p:cNvPr id="89" name="Shape 83"/>
          <p:cNvSpPr/>
          <p:nvPr/>
        </p:nvSpPr>
        <p:spPr>
          <a:xfrm>
            <a:off x="9509760" y="1645920"/>
            <a:ext cx="2103120" cy="1051560"/>
          </a:xfrm>
          <a:prstGeom prst="roundRect">
            <a:avLst>
              <a:gd name="adj" fmla="val 6957"/>
            </a:avLst>
          </a:prstGeom>
          <a:solidFill>
            <a:srgbClr val="5E1230"/>
          </a:solidFill>
          <a:ln w="9525">
            <a:solidFill>
              <a:srgbClr val="5E1230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90" name="Shape 84"/>
          <p:cNvSpPr/>
          <p:nvPr/>
        </p:nvSpPr>
        <p:spPr>
          <a:xfrm>
            <a:off x="10287000" y="1737360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9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8674" y="1869034"/>
            <a:ext cx="285293" cy="285293"/>
          </a:xfrm>
          <a:prstGeom prst="rect">
            <a:avLst/>
          </a:prstGeom>
        </p:spPr>
      </p:pic>
      <p:sp>
        <p:nvSpPr>
          <p:cNvPr id="92" name="Text 85"/>
          <p:cNvSpPr txBox="1"/>
          <p:nvPr/>
        </p:nvSpPr>
        <p:spPr>
          <a:xfrm>
            <a:off x="950976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Quality</a:t>
            </a:r>
            <a:endParaRPr lang="en-US" sz="1500" dirty="0"/>
          </a:p>
        </p:txBody>
      </p:sp>
      <p:sp>
        <p:nvSpPr>
          <p:cNvPr id="93" name="Shape 86"/>
          <p:cNvSpPr/>
          <p:nvPr/>
        </p:nvSpPr>
        <p:spPr>
          <a:xfrm>
            <a:off x="9509760" y="283464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94" name="Shape 87"/>
          <p:cNvSpPr/>
          <p:nvPr/>
        </p:nvSpPr>
        <p:spPr>
          <a:xfrm>
            <a:off x="9509760" y="283464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95" name="Text 88"/>
          <p:cNvSpPr txBox="1"/>
          <p:nvPr/>
        </p:nvSpPr>
        <p:spPr>
          <a:xfrm>
            <a:off x="9692640" y="29077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rotation</a:t>
            </a:r>
            <a:endParaRPr lang="en-US" sz="1300" dirty="0"/>
          </a:p>
        </p:txBody>
      </p:sp>
      <p:sp>
        <p:nvSpPr>
          <p:cNvPr id="96" name="Text 89"/>
          <p:cNvSpPr txBox="1"/>
          <p:nvPr/>
        </p:nvSpPr>
        <p:spPr>
          <a:xfrm>
            <a:off x="9692640" y="32369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100" dirty="0"/>
          </a:p>
        </p:txBody>
      </p:sp>
      <p:sp>
        <p:nvSpPr>
          <p:cNvPr id="97" name="Shape 90"/>
          <p:cNvSpPr/>
          <p:nvPr/>
        </p:nvSpPr>
        <p:spPr>
          <a:xfrm>
            <a:off x="9509760" y="365760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98" name="Shape 91"/>
          <p:cNvSpPr/>
          <p:nvPr/>
        </p:nvSpPr>
        <p:spPr>
          <a:xfrm>
            <a:off x="9509760" y="365760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99" name="Text 92"/>
          <p:cNvSpPr txBox="1"/>
          <p:nvPr/>
        </p:nvSpPr>
        <p:spPr>
          <a:xfrm>
            <a:off x="9692640" y="3730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MFA (Otp.NET)</a:t>
            </a:r>
            <a:endParaRPr lang="en-US" sz="1300" dirty="0"/>
          </a:p>
        </p:txBody>
      </p:sp>
      <p:sp>
        <p:nvSpPr>
          <p:cNvPr id="100" name="Text 93"/>
          <p:cNvSpPr txBox="1"/>
          <p:nvPr/>
        </p:nvSpPr>
        <p:spPr>
          <a:xfrm>
            <a:off x="9692640" y="4059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2-factor login</a:t>
            </a:r>
            <a:endParaRPr lang="en-US" sz="1100" dirty="0"/>
          </a:p>
        </p:txBody>
      </p:sp>
      <p:sp>
        <p:nvSpPr>
          <p:cNvPr id="101" name="Shape 94"/>
          <p:cNvSpPr/>
          <p:nvPr/>
        </p:nvSpPr>
        <p:spPr>
          <a:xfrm>
            <a:off x="9509760" y="448056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102" name="Shape 95"/>
          <p:cNvSpPr/>
          <p:nvPr/>
        </p:nvSpPr>
        <p:spPr>
          <a:xfrm>
            <a:off x="9509760" y="4480560"/>
            <a:ext cx="64008" cy="7315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03" name="Text 96"/>
          <p:cNvSpPr txBox="1"/>
          <p:nvPr/>
        </p:nvSpPr>
        <p:spPr>
          <a:xfrm>
            <a:off x="9692640" y="45537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+ permissions</a:t>
            </a:r>
            <a:endParaRPr lang="en-US" sz="1300" dirty="0"/>
          </a:p>
        </p:txBody>
      </p:sp>
      <p:sp>
        <p:nvSpPr>
          <p:cNvPr id="104" name="Text 97"/>
          <p:cNvSpPr txBox="1"/>
          <p:nvPr/>
        </p:nvSpPr>
        <p:spPr>
          <a:xfrm>
            <a:off x="9692640" y="4882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access</a:t>
            </a:r>
            <a:endParaRPr lang="en-US" sz="1100" dirty="0"/>
          </a:p>
        </p:txBody>
      </p:sp>
      <p:sp>
        <p:nvSpPr>
          <p:cNvPr id="105" name="Shape 98"/>
          <p:cNvSpPr/>
          <p:nvPr/>
        </p:nvSpPr>
        <p:spPr>
          <a:xfrm>
            <a:off x="9509760" y="5303520"/>
            <a:ext cx="21031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106" name="Shape 99"/>
          <p:cNvSpPr/>
          <p:nvPr/>
        </p:nvSpPr>
        <p:spPr>
          <a:xfrm>
            <a:off x="9509760" y="5303520"/>
            <a:ext cx="64008" cy="7315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107" name="Text 100"/>
          <p:cNvSpPr txBox="1"/>
          <p:nvPr/>
        </p:nvSpPr>
        <p:spPr>
          <a:xfrm>
            <a:off x="9692640" y="53766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· Moq · Playwright</a:t>
            </a:r>
            <a:endParaRPr lang="en-US" sz="1300" dirty="0"/>
          </a:p>
        </p:txBody>
      </p:sp>
      <p:sp>
        <p:nvSpPr>
          <p:cNvPr id="108" name="Text 101"/>
          <p:cNvSpPr txBox="1"/>
          <p:nvPr/>
        </p:nvSpPr>
        <p:spPr>
          <a:xfrm>
            <a:off x="9692640" y="57058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to E2E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built into the insurance workflow, on top of a deterministic pricing engine.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- HurricaneShield  |  The Hartford India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The Hartford. Classification: Company Confidential. No part of this document may be reproduced, published, or used without the permission of The Hartford.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755648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346" y="1887322"/>
            <a:ext cx="285293" cy="285293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508760" y="1691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Insurance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0574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D9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Gemini agents, each with a human in the loop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2560320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2560320"/>
            <a:ext cx="64008" cy="82296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22960" y="2715768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855" y="2838663"/>
            <a:ext cx="266273" cy="266273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508760" y="2633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compliance agent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1508760" y="29535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flagged applications against building codes; lists violations, missing discounts and citations.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0080" y="3493008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0080" y="3493008"/>
            <a:ext cx="64008" cy="82296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22960" y="3648456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3771351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508760" y="3566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triage agent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1508760" y="38862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every claim for fraud flags and complexity, and marks fast-track candidates for one-click confirmation.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" y="4425696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40080" y="4425696"/>
            <a:ext cx="64008" cy="82296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22960" y="4581144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4704039"/>
            <a:ext cx="266273" cy="26627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08760" y="4498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ShieldBot assistant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1508760" y="48188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customer questions using the platform's live plans and coverages.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40080" y="5358384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0080" y="5358384"/>
            <a:ext cx="64008" cy="82296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822960" y="5513832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855" y="5636727"/>
            <a:ext cx="266273" cy="266273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508760" y="5431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 the workflow</a:t>
            </a:r>
            <a:endParaRPr lang="en-US" sz="1500" dirty="0"/>
          </a:p>
        </p:txBody>
      </p:sp>
      <p:sp>
        <p:nvSpPr>
          <p:cNvPr id="37" name="Text 30"/>
          <p:cNvSpPr txBox="1"/>
          <p:nvPr/>
        </p:nvSpPr>
        <p:spPr>
          <a:xfrm>
            <a:off x="1508760" y="57515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Gemini is unavailable, a local rule engine takes over automatically.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217920" y="16459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382512" y="1755648"/>
            <a:ext cx="548640" cy="5486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186" y="1887322"/>
            <a:ext cx="285293" cy="285293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7086600" y="16916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Insurance Engine</a:t>
            </a:r>
            <a:endParaRPr lang="en-US" sz="1800" dirty="0"/>
          </a:p>
        </p:txBody>
      </p:sp>
      <p:sp>
        <p:nvSpPr>
          <p:cNvPr id="42" name="Text 34"/>
          <p:cNvSpPr txBox="1"/>
          <p:nvPr/>
        </p:nvSpPr>
        <p:spPr>
          <a:xfrm>
            <a:off x="7086600" y="20574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F4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quote and policy is decided</a:t>
            </a:r>
            <a:endParaRPr lang="en-US" sz="1300" dirty="0"/>
          </a:p>
        </p:txBody>
      </p:sp>
      <p:sp>
        <p:nvSpPr>
          <p:cNvPr id="43" name="Shape 35"/>
          <p:cNvSpPr/>
          <p:nvPr/>
        </p:nvSpPr>
        <p:spPr>
          <a:xfrm>
            <a:off x="6217920" y="2560320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6217920" y="2560320"/>
            <a:ext cx="64008" cy="82296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6400800" y="2715768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695" y="2838663"/>
            <a:ext cx="266273" cy="266273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7086600" y="2633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500" dirty="0"/>
          </a:p>
        </p:txBody>
      </p:sp>
      <p:sp>
        <p:nvSpPr>
          <p:cNvPr id="48" name="Text 39"/>
          <p:cNvSpPr txBox="1"/>
          <p:nvPr/>
        </p:nvSpPr>
        <p:spPr>
          <a:xfrm>
            <a:off x="7086600" y="295351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property age, value, construction and claims history combine into one score.</a:t>
            </a:r>
            <a:endParaRPr lang="en-US" sz="1150" dirty="0"/>
          </a:p>
        </p:txBody>
      </p:sp>
      <p:sp>
        <p:nvSpPr>
          <p:cNvPr id="49" name="Shape 40"/>
          <p:cNvSpPr/>
          <p:nvPr/>
        </p:nvSpPr>
        <p:spPr>
          <a:xfrm>
            <a:off x="6217920" y="3493008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6217920" y="3493008"/>
            <a:ext cx="64008" cy="82296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6400800" y="3648456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3695" y="3771351"/>
            <a:ext cx="266273" cy="266273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7086600" y="35661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itemised premium</a:t>
            </a:r>
            <a:endParaRPr lang="en-US" sz="1500" dirty="0"/>
          </a:p>
        </p:txBody>
      </p:sp>
      <p:sp>
        <p:nvSpPr>
          <p:cNvPr id="54" name="Text 44"/>
          <p:cNvSpPr txBox="1"/>
          <p:nvPr/>
        </p:nvSpPr>
        <p:spPr>
          <a:xfrm>
            <a:off x="7086600" y="388620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see base premium, each adjustment and capped mitigation discounts.</a:t>
            </a:r>
            <a:endParaRPr lang="en-US" sz="1150" dirty="0"/>
          </a:p>
        </p:txBody>
      </p:sp>
      <p:sp>
        <p:nvSpPr>
          <p:cNvPr id="55" name="Shape 45"/>
          <p:cNvSpPr/>
          <p:nvPr/>
        </p:nvSpPr>
        <p:spPr>
          <a:xfrm>
            <a:off x="6217920" y="4425696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6217920" y="4425696"/>
            <a:ext cx="64008" cy="82296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6400800" y="4581144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3695" y="4704039"/>
            <a:ext cx="266273" cy="266273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7086600" y="4498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underwriting</a:t>
            </a:r>
            <a:endParaRPr lang="en-US" sz="1500" dirty="0"/>
          </a:p>
        </p:txBody>
      </p:sp>
      <p:sp>
        <p:nvSpPr>
          <p:cNvPr id="60" name="Text 49"/>
          <p:cNvSpPr txBox="1"/>
          <p:nvPr/>
        </p:nvSpPr>
        <p:spPr>
          <a:xfrm>
            <a:off x="7086600" y="4818888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applications auto-approve; edge cases route to an agent review queue.</a:t>
            </a:r>
            <a:endParaRPr lang="en-US" sz="1150" dirty="0"/>
          </a:p>
        </p:txBody>
      </p:sp>
      <p:sp>
        <p:nvSpPr>
          <p:cNvPr id="61" name="Shape 50"/>
          <p:cNvSpPr/>
          <p:nvPr/>
        </p:nvSpPr>
        <p:spPr>
          <a:xfrm>
            <a:off x="6217920" y="5358384"/>
            <a:ext cx="5394960" cy="822960"/>
          </a:xfrm>
          <a:prstGeom prst="roundRect">
            <a:avLst>
              <a:gd name="adj" fmla="val 5556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</p:spPr>
      </p:sp>
      <p:sp>
        <p:nvSpPr>
          <p:cNvPr id="62" name="Shape 51"/>
          <p:cNvSpPr/>
          <p:nvPr/>
        </p:nvSpPr>
        <p:spPr>
          <a:xfrm>
            <a:off x="6217920" y="5358384"/>
            <a:ext cx="64008" cy="82296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6400800" y="5513832"/>
            <a:ext cx="512064" cy="512064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6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3695" y="5636727"/>
            <a:ext cx="266273" cy="266273"/>
          </a:xfrm>
          <a:prstGeom prst="rect">
            <a:avLst/>
          </a:prstGeom>
        </p:spPr>
      </p:pic>
      <p:sp>
        <p:nvSpPr>
          <p:cNvPr id="65" name="Text 53"/>
          <p:cNvSpPr txBox="1"/>
          <p:nvPr/>
        </p:nvSpPr>
        <p:spPr>
          <a:xfrm>
            <a:off x="7086600" y="54315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snapshots</a:t>
            </a:r>
            <a:endParaRPr lang="en-US" sz="1500" dirty="0"/>
          </a:p>
        </p:txBody>
      </p:sp>
      <p:sp>
        <p:nvSpPr>
          <p:cNvPr id="66" name="Text 54"/>
          <p:cNvSpPr txBox="1"/>
          <p:nvPr/>
        </p:nvSpPr>
        <p:spPr>
          <a:xfrm>
            <a:off x="7086600" y="5751576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policy keeps the exact risk basis it was priced on, even after the home record changes.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3657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Impact: Before vs After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51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for the customer and the insurer.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19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- HurricaneShield  |  The Hartford India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The Hartford. Classification: Company Confidential. No part of this document may be reproduced, published, or used without the permission of The Hartford.</a:t>
            </a:r>
            <a:endParaRPr lang="en-US" sz="600" dirty="0"/>
          </a:p>
        </p:txBody>
      </p:sp>
      <p:sp>
        <p:nvSpPr>
          <p:cNvPr id="8" name="Text 6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24688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645920"/>
            <a:ext cx="3886200" cy="548640"/>
          </a:xfrm>
          <a:prstGeom prst="roundRect">
            <a:avLst>
              <a:gd name="adj" fmla="val 10000"/>
            </a:avLst>
          </a:prstGeom>
          <a:solidFill>
            <a:srgbClr val="E9E4E6"/>
          </a:solidFill>
          <a:ln w="9525">
            <a:solidFill>
              <a:srgbClr val="E9E4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0" y="164592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269480" y="1645920"/>
            <a:ext cx="4343400" cy="548640"/>
          </a:xfrm>
          <a:prstGeom prst="roundRect">
            <a:avLst>
              <a:gd name="adj" fmla="val 10000"/>
            </a:avLst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69480" y="16459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HurricaneShield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" y="2304288"/>
            <a:ext cx="10972800" cy="585216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F7F5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377440"/>
            <a:ext cx="438912" cy="438912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859" y="2482779"/>
            <a:ext cx="228234" cy="22823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80160" y="2304288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Quoting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337560" y="230428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inconsistent pricing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949440" y="2596896"/>
            <a:ext cx="274320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7406640" y="2304288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risk-scored quote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3035808"/>
            <a:ext cx="438912" cy="438912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59" y="3141147"/>
            <a:ext cx="228234" cy="22823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80160" y="2962656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3337560" y="296265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unexplained number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6949440" y="3255264"/>
            <a:ext cx="274320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7406640" y="2962656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Itemised premium breakdown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640080" y="3621024"/>
            <a:ext cx="10972800" cy="585216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F7F5F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31520" y="3694176"/>
            <a:ext cx="438912" cy="438912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59" y="3799515"/>
            <a:ext cx="228234" cy="228234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280160" y="3621024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3337560" y="362102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case reviewed by hand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6949440" y="3913632"/>
            <a:ext cx="274320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33" name="Text 28"/>
          <p:cNvSpPr txBox="1"/>
          <p:nvPr/>
        </p:nvSpPr>
        <p:spPr>
          <a:xfrm>
            <a:off x="7406640" y="3621024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Auto-decide; AI compliance check on edge cases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731520" y="4352544"/>
            <a:ext cx="438912" cy="438912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59" y="4457883"/>
            <a:ext cx="228234" cy="228234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80160" y="4279392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3337560" y="427939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coverage and fraud checks</a:t>
            </a:r>
            <a:endParaRPr lang="en-US" sz="1400" dirty="0"/>
          </a:p>
        </p:txBody>
      </p:sp>
      <p:sp>
        <p:nvSpPr>
          <p:cNvPr id="38" name="Shape 32"/>
          <p:cNvSpPr/>
          <p:nvPr/>
        </p:nvSpPr>
        <p:spPr>
          <a:xfrm>
            <a:off x="6949440" y="4572000"/>
            <a:ext cx="274320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39" name="Text 33"/>
          <p:cNvSpPr txBox="1"/>
          <p:nvPr/>
        </p:nvSpPr>
        <p:spPr>
          <a:xfrm>
            <a:off x="7406640" y="4279392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+ automatic coverage check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640080" y="4937760"/>
            <a:ext cx="10972800" cy="585216"/>
          </a:xfrm>
          <a:prstGeom prst="roundRect">
            <a:avLst>
              <a:gd name="adj" fmla="val 6250"/>
            </a:avLst>
          </a:prstGeom>
          <a:solidFill>
            <a:srgbClr val="F7F5F6"/>
          </a:solidFill>
          <a:ln w="9525">
            <a:solidFill>
              <a:srgbClr val="F7F5F6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731520" y="5010912"/>
            <a:ext cx="438912" cy="438912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859" y="5116251"/>
            <a:ext cx="228234" cy="228234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1280160" y="4937760"/>
            <a:ext cx="1828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3337560" y="493776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an agent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949440" y="5230368"/>
            <a:ext cx="274320" cy="0"/>
          </a:xfrm>
          <a:prstGeom prst="line">
            <a:avLst/>
          </a:prstGeom>
          <a:noFill/>
          <a:ln w="19050">
            <a:solidFill>
              <a:srgbClr val="D6457A"/>
            </a:solidFill>
            <a:prstDash val="solid"/>
            <a:tailEnd type="triangle"/>
          </a:ln>
        </p:spPr>
      </p:sp>
      <p:sp>
        <p:nvSpPr>
          <p:cNvPr id="46" name="Text 39"/>
          <p:cNvSpPr txBox="1"/>
          <p:nvPr/>
        </p:nvSpPr>
        <p:spPr>
          <a:xfrm>
            <a:off x="7406640" y="4937760"/>
            <a:ext cx="4160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ShieldBot answers instantly</a:t>
            </a:r>
            <a:endParaRPr lang="en-US" sz="1400" dirty="0"/>
          </a:p>
        </p:txBody>
      </p:sp>
      <p:sp>
        <p:nvSpPr>
          <p:cNvPr id="47" name="Shape 40"/>
          <p:cNvSpPr/>
          <p:nvPr/>
        </p:nvSpPr>
        <p:spPr>
          <a:xfrm>
            <a:off x="640080" y="571500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640080" y="5715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9" name="Text 42"/>
          <p:cNvSpPr txBox="1"/>
          <p:nvPr/>
        </p:nvSpPr>
        <p:spPr>
          <a:xfrm>
            <a:off x="2788920" y="57150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457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 cloud deployment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5760720" y="57150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457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300" dirty="0"/>
          </a:p>
        </p:txBody>
      </p:sp>
      <p:sp>
        <p:nvSpPr>
          <p:cNvPr id="51" name="Text 44"/>
          <p:cNvSpPr txBox="1"/>
          <p:nvPr/>
        </p:nvSpPr>
        <p:spPr>
          <a:xfrm>
            <a:off x="8732520" y="571500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6457A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document storage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" y="0"/>
            <a:ext cx="36576" cy="685800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6419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64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- HurricaneShield  |  The Hartford India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0" y="6473952"/>
            <a:ext cx="6949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B64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The Hartford. Classification: Company Confidential. No part of this document may be reproduced, published, or used without the permission of The Hartford.</a:t>
            </a:r>
            <a:endParaRPr lang="en-US" sz="600" dirty="0"/>
          </a:p>
        </p:txBody>
      </p:sp>
      <p:sp>
        <p:nvSpPr>
          <p:cNvPr id="6" name="Text 4"/>
          <p:cNvSpPr txBox="1"/>
          <p:nvPr/>
        </p:nvSpPr>
        <p:spPr>
          <a:xfrm>
            <a:off x="11292840" y="63825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594360"/>
            <a:ext cx="4023360" cy="5486400"/>
          </a:xfrm>
          <a:prstGeom prst="roundRect">
            <a:avLst>
              <a:gd name="adj" fmla="val 2727"/>
            </a:avLst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60120" y="1463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960120" y="2514600"/>
            <a:ext cx="1463040" cy="54864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23160" y="2514600"/>
            <a:ext cx="914400" cy="54864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788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4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23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 the people and organizations who made HurricaneShield possible.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685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1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120640" y="1234440"/>
            <a:ext cx="822960" cy="45720"/>
          </a:xfrm>
          <a:prstGeom prst="rect">
            <a:avLst/>
          </a:prstGeom>
          <a:solidFill>
            <a:srgbClr val="151214"/>
          </a:solidFill>
          <a:ln w="9525">
            <a:solidFill>
              <a:srgbClr val="1512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1463040"/>
            <a:ext cx="6492240" cy="960120"/>
          </a:xfrm>
          <a:prstGeom prst="roundRect">
            <a:avLst>
              <a:gd name="adj" fmla="val 4762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120640" y="1463040"/>
            <a:ext cx="82296" cy="9601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0" y="1645920"/>
            <a:ext cx="594360" cy="59436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7606" y="1788566"/>
            <a:ext cx="309067" cy="30906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217920" y="1600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Hartford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1965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opportunity and the platform to learn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120640" y="2606040"/>
            <a:ext cx="6492240" cy="960120"/>
          </a:xfrm>
          <a:prstGeom prst="roundRect">
            <a:avLst>
              <a:gd name="adj" fmla="val 4762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120640" y="2606040"/>
            <a:ext cx="82296" cy="9601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94960" y="2788920"/>
            <a:ext cx="594360" cy="59436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606" y="2931566"/>
            <a:ext cx="309067" cy="309067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217920" y="2743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Ranjan Bhatnagar Sir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6217920" y="3108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his training and guidance</a:t>
            </a:r>
            <a:endParaRPr lang="en-US" sz="1400" dirty="0"/>
          </a:p>
        </p:txBody>
      </p:sp>
      <p:sp>
        <p:nvSpPr>
          <p:cNvPr id="27" name="Shape 23"/>
          <p:cNvSpPr/>
          <p:nvPr/>
        </p:nvSpPr>
        <p:spPr>
          <a:xfrm>
            <a:off x="5120640" y="3749040"/>
            <a:ext cx="6492240" cy="960120"/>
          </a:xfrm>
          <a:prstGeom prst="roundRect">
            <a:avLst>
              <a:gd name="adj" fmla="val 4762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120640" y="3749040"/>
            <a:ext cx="82296" cy="960120"/>
          </a:xfrm>
          <a:prstGeom prst="rect">
            <a:avLst/>
          </a:prstGeom>
          <a:solidFill>
            <a:srgbClr val="8C1D40"/>
          </a:solidFill>
          <a:ln w="9525">
            <a:solidFill>
              <a:srgbClr val="8C1D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394960" y="3931920"/>
            <a:ext cx="594360" cy="59436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606" y="4074566"/>
            <a:ext cx="309067" cy="309067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217920" y="3886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Abhishek Gaikwad Sir</a:t>
            </a:r>
            <a:endParaRPr lang="en-US" sz="1900" dirty="0"/>
          </a:p>
        </p:txBody>
      </p:sp>
      <p:sp>
        <p:nvSpPr>
          <p:cNvPr id="32" name="Text 27"/>
          <p:cNvSpPr txBox="1"/>
          <p:nvPr/>
        </p:nvSpPr>
        <p:spPr>
          <a:xfrm>
            <a:off x="6217920" y="4251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his real-time industry inputs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120640" y="4892040"/>
            <a:ext cx="6492240" cy="960120"/>
          </a:xfrm>
          <a:prstGeom prst="roundRect">
            <a:avLst>
              <a:gd name="adj" fmla="val 4762"/>
            </a:avLst>
          </a:prstGeom>
          <a:solidFill>
            <a:srgbClr val="F7F5F6"/>
          </a:solidFill>
          <a:ln w="9525">
            <a:solidFill>
              <a:srgbClr val="E3DADE"/>
            </a:solidFill>
            <a:prstDash val="solid"/>
          </a:ln>
          <a:effectLst>
            <a:outerShdw sx="100000" sy="100000" kx="0" ky="0" algn="bl" rotWithShape="0" blurRad="63500" dist="19050" dir="5400000">
              <a:srgbClr val="5E123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5120640" y="4892040"/>
            <a:ext cx="82296" cy="960120"/>
          </a:xfrm>
          <a:prstGeom prst="rect">
            <a:avLst/>
          </a:prstGeom>
          <a:solidFill>
            <a:srgbClr val="D6457A"/>
          </a:solidFill>
          <a:ln w="9525">
            <a:solidFill>
              <a:srgbClr val="D6457A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5394960" y="5074920"/>
            <a:ext cx="594360" cy="594360"/>
          </a:xfrm>
          <a:prstGeom prst="ellipse">
            <a:avLst/>
          </a:prstGeom>
          <a:solidFill>
            <a:srgbClr val="F7E8EE"/>
          </a:solidFill>
          <a:ln w="9525">
            <a:solidFill>
              <a:srgbClr val="EBCFDA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7606" y="5217566"/>
            <a:ext cx="309067" cy="30906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217920" y="50292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8C1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GUVI</a:t>
            </a:r>
            <a:endParaRPr lang="en-US" sz="1900" dirty="0"/>
          </a:p>
        </p:txBody>
      </p:sp>
      <p:sp>
        <p:nvSpPr>
          <p:cNvPr id="38" name="Text 32"/>
          <p:cNvSpPr txBox="1"/>
          <p:nvPr/>
        </p:nvSpPr>
        <p:spPr>
          <a:xfrm>
            <a:off x="6217920" y="53949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learning program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rricaneShield Hartford">
  <a:themeElements>
    <a:clrScheme name="HurricaneShield Hartford">
      <a:dk1>
        <a:srgbClr val="1F1A1C"/>
      </a:dk1>
      <a:lt1>
        <a:srgbClr val="FFFFFF"/>
      </a:lt1>
      <a:dk2>
        <a:srgbClr val="5E1230"/>
      </a:dk2>
      <a:lt2>
        <a:srgbClr val="F7F5F6"/>
      </a:lt2>
      <a:accent1>
        <a:srgbClr val="8C1D40"/>
      </a:accent1>
      <a:accent2>
        <a:srgbClr val="D6457A"/>
      </a:accent2>
      <a:accent3>
        <a:srgbClr val="8B3A1E"/>
      </a:accent3>
      <a:accent4>
        <a:srgbClr val="6E7B1E"/>
      </a:accent4>
      <a:accent5>
        <a:srgbClr val="3E6B2E"/>
      </a:accent5>
      <a:accent6>
        <a:srgbClr val="1E2A4A"/>
      </a:accent6>
      <a:hlink>
        <a:srgbClr val="8C1D40"/>
      </a:hlink>
      <a:folHlink>
        <a:srgbClr val="5E1230"/>
      </a:folHlink>
    </a:clrScheme>
    <a:fontScheme name="HurricaneShield Hartfo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HurricaneShield Insurance Platform</dc:title>
  <dc:subject>PptxGenJS Presentation</dc:subject>
  <dc:creator>PptxGenJS</dc:creator>
  <cp:lastModifiedBy>PptxGenJS</cp:lastModifiedBy>
  <cp:revision>1</cp:revision>
  <dcterms:created xsi:type="dcterms:W3CDTF">2026-10-24T18:07:44Z</dcterms:created>
  <dcterms:modified xsi:type="dcterms:W3CDTF">2026-10-24T18:07:44Z</dcterms:modified>
</cp:coreProperties>
</file>